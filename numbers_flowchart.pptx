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1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3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4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6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1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4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1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3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0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6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2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4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A948E-D7A4-4DC3-82B3-BB278E0D8F00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0A127-B36F-4985-963C-5F53E86AE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7225038-CBE1-1CEF-BAFA-41F07E0BFA4D}"/>
              </a:ext>
            </a:extLst>
          </p:cNvPr>
          <p:cNvGrpSpPr/>
          <p:nvPr/>
        </p:nvGrpSpPr>
        <p:grpSpPr>
          <a:xfrm>
            <a:off x="-1371601" y="449451"/>
            <a:ext cx="10126406" cy="5290111"/>
            <a:chOff x="-1371601" y="449451"/>
            <a:chExt cx="10126406" cy="52901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E0B286-8190-AC17-2B50-7DD1444A43FB}"/>
                </a:ext>
              </a:extLst>
            </p:cNvPr>
            <p:cNvSpPr/>
            <p:nvPr/>
          </p:nvSpPr>
          <p:spPr>
            <a:xfrm>
              <a:off x="588936" y="449451"/>
              <a:ext cx="2007267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231581 Journal Articles Retrieved from PubMed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0EC449-EC29-55E3-EDE3-74EF5910213B}"/>
                </a:ext>
              </a:extLst>
            </p:cNvPr>
            <p:cNvSpPr/>
            <p:nvPr/>
          </p:nvSpPr>
          <p:spPr>
            <a:xfrm>
              <a:off x="4261799" y="449451"/>
              <a:ext cx="2007267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8314 Neurosurgeon Names Retrieved From ABNS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AF09DF-B195-5487-077F-FD9E3A73533A}"/>
                </a:ext>
              </a:extLst>
            </p:cNvPr>
            <p:cNvSpPr/>
            <p:nvPr/>
          </p:nvSpPr>
          <p:spPr>
            <a:xfrm>
              <a:off x="4261799" y="1436738"/>
              <a:ext cx="2007267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7898 ABNS Names With Successful Name-Gender Inference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C20A21-7F08-C246-F8B8-FF055C152FAA}"/>
                </a:ext>
              </a:extLst>
            </p:cNvPr>
            <p:cNvSpPr/>
            <p:nvPr/>
          </p:nvSpPr>
          <p:spPr>
            <a:xfrm>
              <a:off x="6747538" y="930837"/>
              <a:ext cx="2007267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416 ABNS Names Without Successful Name-Gender Inference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7C27E3-FED5-A710-0A41-9EA71A04E809}"/>
                </a:ext>
              </a:extLst>
            </p:cNvPr>
            <p:cNvSpPr/>
            <p:nvPr/>
          </p:nvSpPr>
          <p:spPr>
            <a:xfrm>
              <a:off x="2286001" y="2401331"/>
              <a:ext cx="2232835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29800 Articles Successfully Matched To ABNS Neurosurgeons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CDCE00-E7EB-B522-FE83-9D97DF91D6DF}"/>
                </a:ext>
              </a:extLst>
            </p:cNvPr>
            <p:cNvSpPr/>
            <p:nvPr/>
          </p:nvSpPr>
          <p:spPr>
            <a:xfrm>
              <a:off x="1005840" y="3391720"/>
              <a:ext cx="2286000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18733 Articles With First Author Matched To ABNS Neurosurgeons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2394D5-48E7-91BD-2884-735FB54A1A85}"/>
                </a:ext>
              </a:extLst>
            </p:cNvPr>
            <p:cNvSpPr/>
            <p:nvPr/>
          </p:nvSpPr>
          <p:spPr>
            <a:xfrm>
              <a:off x="3566159" y="3391719"/>
              <a:ext cx="2286000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21652 Articles With Last Author Matched To ABNS Neurosurgeons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DCE4B3-E5E6-9EEB-B68E-A31242EBB68D}"/>
                </a:ext>
              </a:extLst>
            </p:cNvPr>
            <p:cNvSpPr/>
            <p:nvPr/>
          </p:nvSpPr>
          <p:spPr>
            <a:xfrm>
              <a:off x="2425366" y="4752275"/>
              <a:ext cx="2007267" cy="987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10585 Articles With Both First And Last Author Matched To ABNS Neurosurgeons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1366A9-FDE9-3606-43A7-11FB111D866D}"/>
                </a:ext>
              </a:extLst>
            </p:cNvPr>
            <p:cNvSpPr/>
            <p:nvPr/>
          </p:nvSpPr>
          <p:spPr>
            <a:xfrm>
              <a:off x="6025934" y="4422986"/>
              <a:ext cx="2194560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11067 Articles With Only Last Author Matched ABNS Neurosurgeons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1A1BAD-4EC7-50A0-BDED-EB73DA9132DC}"/>
                </a:ext>
              </a:extLst>
            </p:cNvPr>
            <p:cNvSpPr/>
            <p:nvPr/>
          </p:nvSpPr>
          <p:spPr>
            <a:xfrm>
              <a:off x="-1371601" y="4426373"/>
              <a:ext cx="2194560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8148 Articles With Only First Author Matched To ABNS Neurosurgeons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A8A62D-410A-0F79-65CF-B93DEAC71E3E}"/>
                </a:ext>
              </a:extLst>
            </p:cNvPr>
            <p:cNvSpPr/>
            <p:nvPr/>
          </p:nvSpPr>
          <p:spPr>
            <a:xfrm>
              <a:off x="-1371601" y="2401331"/>
              <a:ext cx="2194560" cy="6518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201781 Articles Failed Matching To ABNS Neurosurgeons</a:t>
              </a: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182ED299-27B9-F10C-1372-117DD45C99A6}"/>
                </a:ext>
              </a:extLst>
            </p:cNvPr>
            <p:cNvCxnSpPr>
              <a:cxnSpLocks/>
              <a:stCxn id="6" idx="2"/>
              <a:endCxn id="10" idx="1"/>
            </p:cNvCxnSpPr>
            <p:nvPr/>
          </p:nvCxnSpPr>
          <p:spPr>
            <a:xfrm rot="16200000" flipH="1">
              <a:off x="1126296" y="1567528"/>
              <a:ext cx="1625978" cy="69343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086EF9DB-A7B9-2800-A8E3-A82A7F025657}"/>
                </a:ext>
              </a:extLst>
            </p:cNvPr>
            <p:cNvCxnSpPr>
              <a:stCxn id="7" idx="2"/>
              <a:endCxn id="9" idx="1"/>
            </p:cNvCxnSpPr>
            <p:nvPr/>
          </p:nvCxnSpPr>
          <p:spPr>
            <a:xfrm rot="16200000" flipH="1">
              <a:off x="5928743" y="437944"/>
              <a:ext cx="155484" cy="148210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6D9862E-C482-6BDF-63CD-1A99C5AA6658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5265433" y="1178996"/>
              <a:ext cx="0" cy="25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BE3F4578-C10C-B842-C4C3-582BE9AA6DED}"/>
                </a:ext>
              </a:extLst>
            </p:cNvPr>
            <p:cNvCxnSpPr>
              <a:cxnSpLocks/>
              <a:stCxn id="8" idx="2"/>
              <a:endCxn id="10" idx="3"/>
            </p:cNvCxnSpPr>
            <p:nvPr/>
          </p:nvCxnSpPr>
          <p:spPr>
            <a:xfrm rot="5400000">
              <a:off x="4572790" y="2034589"/>
              <a:ext cx="638691" cy="74659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9CC3F103-0693-2E11-9FD5-32BBEE88D40D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rot="10800000" flipV="1">
              <a:off x="2148841" y="3226648"/>
              <a:ext cx="660841" cy="16507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AAF1EB7E-F14F-6868-EF14-5F4FAC67263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4078919" y="3226647"/>
              <a:ext cx="630240" cy="16507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1563758-DC72-53FD-4413-3AE3D1A2D473}"/>
                </a:ext>
              </a:extLst>
            </p:cNvPr>
            <p:cNvCxnSpPr/>
            <p:nvPr/>
          </p:nvCxnSpPr>
          <p:spPr>
            <a:xfrm>
              <a:off x="2809681" y="3054243"/>
              <a:ext cx="0" cy="1828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0D45A7F-4E6A-77FC-A506-1EB0BB420F6F}"/>
                </a:ext>
              </a:extLst>
            </p:cNvPr>
            <p:cNvCxnSpPr>
              <a:cxnSpLocks/>
            </p:cNvCxnSpPr>
            <p:nvPr/>
          </p:nvCxnSpPr>
          <p:spPr>
            <a:xfrm>
              <a:off x="4078919" y="3050040"/>
              <a:ext cx="0" cy="1828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5C744427-7C17-B766-947E-B876ABA5A737}"/>
                </a:ext>
              </a:extLst>
            </p:cNvPr>
            <p:cNvCxnSpPr>
              <a:cxnSpLocks/>
              <a:stCxn id="14" idx="2"/>
              <a:endCxn id="18" idx="3"/>
            </p:cNvCxnSpPr>
            <p:nvPr/>
          </p:nvCxnSpPr>
          <p:spPr>
            <a:xfrm rot="5400000">
              <a:off x="1131525" y="3734959"/>
              <a:ext cx="708751" cy="132588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5C6D10EE-1329-5EB7-0583-13DE270B9D0B}"/>
                </a:ext>
              </a:extLst>
            </p:cNvPr>
            <p:cNvCxnSpPr>
              <a:stCxn id="15" idx="2"/>
              <a:endCxn id="17" idx="1"/>
            </p:cNvCxnSpPr>
            <p:nvPr/>
          </p:nvCxnSpPr>
          <p:spPr>
            <a:xfrm rot="16200000" flipH="1">
              <a:off x="5014864" y="3737817"/>
              <a:ext cx="705365" cy="131677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Connector: Elbow 2">
              <a:extLst>
                <a:ext uri="{FF2B5EF4-FFF2-40B4-BE49-F238E27FC236}">
                  <a16:creationId xmlns:a16="http://schemas.microsoft.com/office/drawing/2014/main" id="{68DFE253-8337-59F5-5C85-AF58B29242A0}"/>
                </a:ext>
              </a:extLst>
            </p:cNvPr>
            <p:cNvCxnSpPr>
              <a:stCxn id="6" idx="2"/>
              <a:endCxn id="20" idx="3"/>
            </p:cNvCxnSpPr>
            <p:nvPr/>
          </p:nvCxnSpPr>
          <p:spPr>
            <a:xfrm rot="5400000">
              <a:off x="394776" y="1529439"/>
              <a:ext cx="1625978" cy="769611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Connector: Elbow 4">
              <a:extLst>
                <a:ext uri="{FF2B5EF4-FFF2-40B4-BE49-F238E27FC236}">
                  <a16:creationId xmlns:a16="http://schemas.microsoft.com/office/drawing/2014/main" id="{92A34D0F-70A2-0561-ACA3-60D92F84E3AA}"/>
                </a:ext>
              </a:extLst>
            </p:cNvPr>
            <p:cNvCxnSpPr>
              <a:stCxn id="15" idx="2"/>
              <a:endCxn id="16" idx="3"/>
            </p:cNvCxnSpPr>
            <p:nvPr/>
          </p:nvCxnSpPr>
          <p:spPr>
            <a:xfrm rot="5400000">
              <a:off x="3969698" y="4506458"/>
              <a:ext cx="1202396" cy="27652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59ED7551-E3DF-02E9-533C-1631713174F5}"/>
                </a:ext>
              </a:extLst>
            </p:cNvPr>
            <p:cNvCxnSpPr>
              <a:cxnSpLocks/>
              <a:stCxn id="14" idx="2"/>
              <a:endCxn id="16" idx="1"/>
            </p:cNvCxnSpPr>
            <p:nvPr/>
          </p:nvCxnSpPr>
          <p:spPr>
            <a:xfrm rot="16200000" flipH="1">
              <a:off x="1685906" y="4506458"/>
              <a:ext cx="1202395" cy="27652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364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89</Words>
  <Application>Microsoft Office PowerPoint</Application>
  <PresentationFormat>Letter Paper (8.5x11 in)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Thallapureddy, Aneesh R</dc:creator>
  <cp:lastModifiedBy>Aneesh Thallapureddy</cp:lastModifiedBy>
  <cp:revision>22</cp:revision>
  <dcterms:created xsi:type="dcterms:W3CDTF">2024-08-15T07:39:27Z</dcterms:created>
  <dcterms:modified xsi:type="dcterms:W3CDTF">2024-08-22T20:10:40Z</dcterms:modified>
</cp:coreProperties>
</file>